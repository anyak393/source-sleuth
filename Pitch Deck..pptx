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5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2"/>
          <p:cNvSpPr txBox="1"/>
          <p:nvPr/>
        </p:nvSpPr>
        <p:spPr>
          <a:xfrm>
            <a:off x="361254" y="2492599"/>
            <a:ext cx="10496760" cy="6920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700"/>
              </a:lnSpc>
              <a:defRPr b="1" spc="-373" sz="178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🕸️ SOURCE SLEUTH.</a:t>
            </a:r>
          </a:p>
          <a:p>
            <a:pPr>
              <a:lnSpc>
                <a:spcPts val="2900"/>
              </a:lnSpc>
              <a:defRPr b="1" spc="-65" sz="30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   VISUAL CITATION MAPPING TOOL</a:t>
            </a:r>
          </a:p>
        </p:txBody>
      </p:sp>
      <p:sp>
        <p:nvSpPr>
          <p:cNvPr id="95" name="Freeform 3"/>
          <p:cNvSpPr/>
          <p:nvPr/>
        </p:nvSpPr>
        <p:spPr>
          <a:xfrm>
            <a:off x="16458285" y="4469863"/>
            <a:ext cx="801016" cy="13472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Box 4"/>
          <p:cNvSpPr txBox="1"/>
          <p:nvPr/>
        </p:nvSpPr>
        <p:spPr>
          <a:xfrm>
            <a:off x="10469312" y="6978285"/>
            <a:ext cx="6389481" cy="2060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400"/>
              </a:lnSpc>
              <a:defRPr spc="-102" sz="48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lvl1pPr>
          </a:lstStyle>
          <a:p>
            <a:pPr/>
            <a:r>
              <a:t>"Don't tell me what to believe. Show me the evidence."</a:t>
            </a:r>
          </a:p>
        </p:txBody>
      </p:sp>
      <p:sp>
        <p:nvSpPr>
          <p:cNvPr id="97" name="TextBox 5"/>
          <p:cNvSpPr txBox="1"/>
          <p:nvPr/>
        </p:nvSpPr>
        <p:spPr>
          <a:xfrm>
            <a:off x="12855403" y="1430677"/>
            <a:ext cx="4403897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lvl1pPr>
          </a:lstStyle>
          <a:p>
            <a:pPr/>
            <a:r>
              <a:t>UNESCO Youth Hackathon 2026</a:t>
            </a:r>
          </a:p>
        </p:txBody>
      </p:sp>
      <p:sp>
        <p:nvSpPr>
          <p:cNvPr id="98" name="TextBox 6"/>
          <p:cNvSpPr txBox="1"/>
          <p:nvPr/>
        </p:nvSpPr>
        <p:spPr>
          <a:xfrm>
            <a:off x="14070144" y="1123211"/>
            <a:ext cx="3189157" cy="25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900"/>
              </a:lnSpc>
              <a:defRPr b="1" spc="98" sz="21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AUGUST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 3"/>
          <p:cNvSpPr/>
          <p:nvPr/>
        </p:nvSpPr>
        <p:spPr>
          <a:xfrm>
            <a:off x="4392096" y="2060426"/>
            <a:ext cx="6308380" cy="258398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Freeform 4"/>
          <p:cNvSpPr/>
          <p:nvPr/>
        </p:nvSpPr>
        <p:spPr>
          <a:xfrm rot="5400000">
            <a:off x="617721" y="8005063"/>
            <a:ext cx="1666939" cy="83953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Box 5"/>
          <p:cNvSpPr txBox="1"/>
          <p:nvPr/>
        </p:nvSpPr>
        <p:spPr>
          <a:xfrm>
            <a:off x="4392097" y="5127676"/>
            <a:ext cx="5759844" cy="1948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7500"/>
              </a:lnSpc>
              <a:defRPr b="1" spc="-168" sz="80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103" name="TextBox 6"/>
          <p:cNvSpPr txBox="1"/>
          <p:nvPr/>
        </p:nvSpPr>
        <p:spPr>
          <a:xfrm>
            <a:off x="4392096" y="7389573"/>
            <a:ext cx="6041888" cy="2216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lvl1pPr>
          </a:lstStyle>
          <a:p>
            <a:pPr/>
            <a:r>
              <a:t>In today's digital age, misinformation spreads faster than ever before. 70% of people cannot distinguish between real and fake news, and 60% share articles without reading them first. Traditional fact-checking is slow, complex, and inaccessible to the average person.</a:t>
            </a:r>
          </a:p>
        </p:txBody>
      </p:sp>
      <p:sp>
        <p:nvSpPr>
          <p:cNvPr id="104" name="TextBox 7"/>
          <p:cNvSpPr txBox="1"/>
          <p:nvPr/>
        </p:nvSpPr>
        <p:spPr>
          <a:xfrm>
            <a:off x="12017567" y="3021331"/>
            <a:ext cx="4020396" cy="651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2600"/>
              </a:lnSpc>
              <a:defRPr spc="98" sz="2100">
                <a:solidFill>
                  <a:srgbClr val="8C52FF"/>
                </a:solidFill>
                <a:latin typeface="Open Sauce"/>
                <a:ea typeface="Open Sauce"/>
                <a:cs typeface="Open Sauce"/>
                <a:sym typeface="Open Sauce"/>
              </a:defRPr>
            </a:lvl1pPr>
          </a:lstStyle>
          <a:p>
            <a:pPr/>
            <a:r>
              <a:t>MISINFORMATION CRISIS</a:t>
            </a:r>
          </a:p>
        </p:txBody>
      </p:sp>
      <p:sp>
        <p:nvSpPr>
          <p:cNvPr id="105" name="TextBox 8"/>
          <p:cNvSpPr txBox="1"/>
          <p:nvPr/>
        </p:nvSpPr>
        <p:spPr>
          <a:xfrm>
            <a:off x="12017567" y="3793873"/>
            <a:ext cx="3333881" cy="651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2600"/>
              </a:lnSpc>
              <a:defRPr spc="98" sz="2100">
                <a:solidFill>
                  <a:srgbClr val="8C52FF"/>
                </a:solidFill>
                <a:latin typeface="Open Sauce"/>
                <a:ea typeface="Open Sauce"/>
                <a:cs typeface="Open Sauce"/>
                <a:sym typeface="Open Sauce"/>
              </a:defRPr>
            </a:lvl1pPr>
          </a:lstStyle>
          <a:p>
            <a:pPr/>
            <a:r>
              <a:t>DIGITAL ILLITERACY</a:t>
            </a:r>
          </a:p>
        </p:txBody>
      </p:sp>
      <p:sp>
        <p:nvSpPr>
          <p:cNvPr id="106" name="TextBox 9"/>
          <p:cNvSpPr txBox="1"/>
          <p:nvPr/>
        </p:nvSpPr>
        <p:spPr>
          <a:xfrm>
            <a:off x="12017567" y="4563112"/>
            <a:ext cx="3333881" cy="651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2600"/>
              </a:lnSpc>
              <a:defRPr spc="98" sz="2100">
                <a:solidFill>
                  <a:srgbClr val="8C52FF"/>
                </a:solidFill>
                <a:latin typeface="Open Sauce"/>
                <a:ea typeface="Open Sauce"/>
                <a:cs typeface="Open Sauce"/>
                <a:sym typeface="Open Sauce"/>
              </a:defRPr>
            </a:lvl1pPr>
          </a:lstStyle>
          <a:p>
            <a:pPr/>
            <a:r>
              <a:t>LACK OF TRUST</a:t>
            </a:r>
          </a:p>
        </p:txBody>
      </p:sp>
      <p:sp>
        <p:nvSpPr>
          <p:cNvPr id="107" name="TextBox 10"/>
          <p:cNvSpPr txBox="1"/>
          <p:nvPr/>
        </p:nvSpPr>
        <p:spPr>
          <a:xfrm>
            <a:off x="12017567" y="2252091"/>
            <a:ext cx="3333881" cy="325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2600"/>
              </a:lnSpc>
              <a:defRPr b="1" spc="98" sz="21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KEY POINTS:</a:t>
            </a:r>
          </a:p>
        </p:txBody>
      </p:sp>
      <p:sp>
        <p:nvSpPr>
          <p:cNvPr id="108" name="TextBox 11"/>
          <p:cNvSpPr txBox="1"/>
          <p:nvPr/>
        </p:nvSpPr>
        <p:spPr>
          <a:xfrm>
            <a:off x="10923865" y="7227648"/>
            <a:ext cx="6335436" cy="316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70% of people can't tell real from fake news</a:t>
            </a:r>
          </a:p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60% share articles without reading them</a:t>
            </a:r>
          </a:p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Misinformation spreads 6x faster than truth</a:t>
            </a:r>
          </a:p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Media literacy education is lacking globally</a:t>
            </a:r>
          </a:p>
          <a:p>
            <a:pPr>
              <a:lnSpc>
                <a:spcPts val="2500"/>
              </a:lnSpc>
            </a:pPr>
          </a:p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━━━━━━━━━━━━━━━━━━━━━━━People are making life decisions based on misinformation.</a:t>
            </a:r>
          </a:p>
          <a:p>
            <a:pPr>
              <a:lnSpc>
                <a:spcPts val="2500"/>
              </a:lnSpc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Freeform 2"/>
          <p:cNvSpPr/>
          <p:nvPr/>
        </p:nvSpPr>
        <p:spPr>
          <a:xfrm>
            <a:off x="15725869" y="1028700"/>
            <a:ext cx="1533432" cy="158531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Freeform 4"/>
          <p:cNvSpPr/>
          <p:nvPr/>
        </p:nvSpPr>
        <p:spPr>
          <a:xfrm>
            <a:off x="7504111" y="1652484"/>
            <a:ext cx="6308380" cy="258398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Box 5"/>
          <p:cNvSpPr txBox="1"/>
          <p:nvPr/>
        </p:nvSpPr>
        <p:spPr>
          <a:xfrm>
            <a:off x="1028700" y="1842984"/>
            <a:ext cx="5759843" cy="1948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7500"/>
              </a:lnSpc>
              <a:defRPr b="1" spc="-168" sz="80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THE SOLUTION</a:t>
            </a:r>
          </a:p>
        </p:txBody>
      </p:sp>
      <p:sp>
        <p:nvSpPr>
          <p:cNvPr id="113" name="TextBox 6"/>
          <p:cNvSpPr txBox="1"/>
          <p:nvPr/>
        </p:nvSpPr>
        <p:spPr>
          <a:xfrm>
            <a:off x="818930" y="4650866"/>
            <a:ext cx="10740194" cy="158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lvl1pPr>
          </a:lstStyle>
          <a:p>
            <a:pPr/>
            <a:r>
              <a:t>Source Sleuth is an interactive web platform that maps every claim in a news article to its sources using an intuitive spider web visualization. Just paste a URL or text, and our tool analyzes each claim, fact-checks it, and shows you exactly where the information comes from.</a:t>
            </a:r>
          </a:p>
        </p:txBody>
      </p:sp>
      <p:sp>
        <p:nvSpPr>
          <p:cNvPr id="114" name="TextBox 7"/>
          <p:cNvSpPr txBox="1"/>
          <p:nvPr/>
        </p:nvSpPr>
        <p:spPr>
          <a:xfrm>
            <a:off x="818931" y="7354161"/>
            <a:ext cx="3880469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2400"/>
              </a:lnSpc>
              <a:defRPr b="1" spc="89" sz="19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REAL-TIME FACT CHECKING</a:t>
            </a:r>
          </a:p>
        </p:txBody>
      </p:sp>
      <p:sp>
        <p:nvSpPr>
          <p:cNvPr id="115" name="TextBox 8"/>
          <p:cNvSpPr txBox="1"/>
          <p:nvPr/>
        </p:nvSpPr>
        <p:spPr>
          <a:xfrm>
            <a:off x="818930" y="7921027"/>
            <a:ext cx="3292830" cy="1263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lvl1pPr>
          </a:lstStyle>
          <a:p>
            <a:pPr/>
            <a:r>
              <a:t> Instantly verifies claims using Google Fact Check API</a:t>
            </a:r>
          </a:p>
        </p:txBody>
      </p:sp>
      <p:sp>
        <p:nvSpPr>
          <p:cNvPr id="116" name="TextBox 9"/>
          <p:cNvSpPr txBox="1"/>
          <p:nvPr/>
        </p:nvSpPr>
        <p:spPr>
          <a:xfrm>
            <a:off x="5057206" y="7321205"/>
            <a:ext cx="3012267" cy="631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2600"/>
              </a:lnSpc>
              <a:defRPr b="1" spc="98" sz="21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VISUAL MAPPING</a:t>
            </a:r>
          </a:p>
        </p:txBody>
      </p:sp>
      <p:sp>
        <p:nvSpPr>
          <p:cNvPr id="117" name="TextBox 10"/>
          <p:cNvSpPr txBox="1"/>
          <p:nvPr/>
        </p:nvSpPr>
        <p:spPr>
          <a:xfrm>
            <a:off x="5057206" y="7921027"/>
            <a:ext cx="3195415" cy="158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lvl1pPr>
          </a:lstStyle>
          <a:p>
            <a:pPr/>
            <a:r>
              <a:t>Interactive spider web shows connections between claims and sources</a:t>
            </a:r>
          </a:p>
        </p:txBody>
      </p:sp>
      <p:sp>
        <p:nvSpPr>
          <p:cNvPr id="118" name="TextBox 11"/>
          <p:cNvSpPr txBox="1"/>
          <p:nvPr/>
        </p:nvSpPr>
        <p:spPr>
          <a:xfrm>
            <a:off x="9290846" y="7321205"/>
            <a:ext cx="2870701" cy="631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2600"/>
              </a:lnSpc>
              <a:defRPr b="1" spc="98" sz="21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TRUST SCORE</a:t>
            </a:r>
          </a:p>
        </p:txBody>
      </p:sp>
      <p:sp>
        <p:nvSpPr>
          <p:cNvPr id="119" name="TextBox 12"/>
          <p:cNvSpPr txBox="1"/>
          <p:nvPr/>
        </p:nvSpPr>
        <p:spPr>
          <a:xfrm>
            <a:off x="9195596" y="8011528"/>
            <a:ext cx="3227886" cy="1263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lvl1pPr>
          </a:lstStyle>
          <a:p>
            <a:pPr/>
            <a:r>
              <a:t>0-100 credibility score with color coding (Green/Yellow/Red)</a:t>
            </a:r>
          </a:p>
        </p:txBody>
      </p:sp>
      <p:sp>
        <p:nvSpPr>
          <p:cNvPr id="120" name="TextBox 13"/>
          <p:cNvSpPr txBox="1"/>
          <p:nvPr/>
        </p:nvSpPr>
        <p:spPr>
          <a:xfrm>
            <a:off x="13564581" y="7321205"/>
            <a:ext cx="3446811" cy="605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2400"/>
              </a:lnSpc>
              <a:defRPr b="1" spc="89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ACCESSIBLE &amp; FREE</a:t>
            </a:r>
          </a:p>
        </p:txBody>
      </p:sp>
      <p:sp>
        <p:nvSpPr>
          <p:cNvPr id="121" name="TextBox 14"/>
          <p:cNvSpPr txBox="1"/>
          <p:nvPr/>
        </p:nvSpPr>
        <p:spPr>
          <a:xfrm>
            <a:off x="13564581" y="7948586"/>
            <a:ext cx="3446811" cy="1263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lvl1pPr>
          </a:lstStyle>
          <a:p>
            <a:pPr/>
            <a:r>
              <a:t> Voice input, text-to-speech, and multi-language support for everyone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2"/>
          <p:cNvSpPr txBox="1"/>
          <p:nvPr/>
        </p:nvSpPr>
        <p:spPr>
          <a:xfrm>
            <a:off x="1028699" y="1219199"/>
            <a:ext cx="7496056" cy="1948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7500"/>
              </a:lnSpc>
              <a:defRPr b="1" spc="-168" sz="80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HOW IT WORKS</a:t>
            </a:r>
          </a:p>
        </p:txBody>
      </p:sp>
      <p:pic>
        <p:nvPicPr>
          <p:cNvPr id="12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21537" y="909942"/>
            <a:ext cx="8873799" cy="6704491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TextBox 4"/>
          <p:cNvSpPr txBox="1"/>
          <p:nvPr/>
        </p:nvSpPr>
        <p:spPr>
          <a:xfrm>
            <a:off x="1028699" y="3966216"/>
            <a:ext cx="9432323" cy="5282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00"/>
              </a:lnSpc>
              <a:defRPr b="1" spc="84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4 SIMPLE STEPS TO UNCOVER THE TRUTH:</a:t>
            </a:r>
          </a:p>
          <a:p>
            <a:pPr>
              <a:lnSpc>
                <a:spcPts val="2300"/>
              </a:lnSpc>
            </a:pPr>
          </a:p>
          <a:p>
            <a:pPr>
              <a:lnSpc>
                <a:spcPts val="2300"/>
              </a:lnSpc>
              <a:defRPr b="1" spc="84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STEP 1: INPUT</a:t>
            </a:r>
          </a:p>
          <a:p>
            <a:pPr>
              <a:lnSpc>
                <a:spcPts val="2300"/>
              </a:lnSpc>
              <a:defRPr b="1" spc="84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└── PASTE URL, PASTE TEXT, OR USE VOICE INPUT</a:t>
            </a:r>
          </a:p>
          <a:p>
            <a:pPr>
              <a:lnSpc>
                <a:spcPts val="2300"/>
              </a:lnSpc>
            </a:pPr>
          </a:p>
          <a:p>
            <a:pPr>
              <a:lnSpc>
                <a:spcPts val="2300"/>
              </a:lnSpc>
              <a:defRPr b="1" spc="84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STEP 2: SMART DETECTION</a:t>
            </a:r>
          </a:p>
          <a:p>
            <a:pPr>
              <a:lnSpc>
                <a:spcPts val="2300"/>
              </a:lnSpc>
              <a:defRPr b="1" spc="84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└── SYSTEM AUTO-DETECTS ARTICLE TOPIC AND LOADS RELEVANT DATA</a:t>
            </a:r>
          </a:p>
          <a:p>
            <a:pPr>
              <a:lnSpc>
                <a:spcPts val="2300"/>
              </a:lnSpc>
            </a:pPr>
          </a:p>
          <a:p>
            <a:pPr>
              <a:lnSpc>
                <a:spcPts val="2300"/>
              </a:lnSpc>
              <a:defRPr b="1" spc="84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STEP 3: CLAIM ANALYSIS</a:t>
            </a:r>
          </a:p>
          <a:p>
            <a:pPr>
              <a:lnSpc>
                <a:spcPts val="2300"/>
              </a:lnSpc>
              <a:defRPr b="1" spc="84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└── EACH CLAIM IS ANALYZED AND FACT-CHECKED VIA GOOGLE API</a:t>
            </a:r>
          </a:p>
          <a:p>
            <a:pPr>
              <a:lnSpc>
                <a:spcPts val="2300"/>
              </a:lnSpc>
            </a:pPr>
          </a:p>
          <a:p>
            <a:pPr>
              <a:lnSpc>
                <a:spcPts val="2300"/>
              </a:lnSpc>
              <a:defRPr b="1" spc="84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STEP 4: VISUAL RESULTS</a:t>
            </a:r>
          </a:p>
          <a:p>
            <a:pPr>
              <a:lnSpc>
                <a:spcPts val="2300"/>
              </a:lnSpc>
              <a:defRPr b="1" spc="84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└── INTERACTIVE SPIDER WEB WITH COLOR-CODED CLAIMS</a:t>
            </a:r>
          </a:p>
          <a:p>
            <a:pPr>
              <a:lnSpc>
                <a:spcPts val="2300"/>
              </a:lnSpc>
            </a:pPr>
          </a:p>
          <a:p>
            <a:pPr>
              <a:lnSpc>
                <a:spcPts val="2300"/>
              </a:lnSpc>
              <a:defRPr b="1" spc="84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━━━━━━━━━━━━━━━━━━━━━━━━━━━━━━━━━━━━━━━━━━━━━━━━━━━━━</a:t>
            </a:r>
          </a:p>
          <a:p>
            <a:pPr>
              <a:lnSpc>
                <a:spcPts val="2300"/>
              </a:lnSpc>
            </a:pPr>
          </a:p>
          <a:p>
            <a:pPr>
              <a:lnSpc>
                <a:spcPts val="2300"/>
              </a:lnSpc>
              <a:defRPr b="1" spc="84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🟢 VERIFIED  |  🟡 WEAK SOURCE  |  🔴 UNSOURCED</a:t>
            </a:r>
          </a:p>
        </p:txBody>
      </p:sp>
      <p:sp>
        <p:nvSpPr>
          <p:cNvPr id="126" name="AutoShape 5"/>
          <p:cNvSpPr/>
          <p:nvPr/>
        </p:nvSpPr>
        <p:spPr>
          <a:xfrm>
            <a:off x="1028699" y="3499391"/>
            <a:ext cx="7165504" cy="1"/>
          </a:xfrm>
          <a:prstGeom prst="line">
            <a:avLst/>
          </a:prstGeom>
          <a:ln w="114300">
            <a:solidFill>
              <a:srgbClr val="8C52FF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2"/>
          <p:cNvSpPr txBox="1"/>
          <p:nvPr/>
        </p:nvSpPr>
        <p:spPr>
          <a:xfrm>
            <a:off x="628233" y="1057945"/>
            <a:ext cx="6473110" cy="2025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7800"/>
              </a:lnSpc>
              <a:defRPr b="1" spc="-176" sz="83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KEY FEATURES</a:t>
            </a:r>
          </a:p>
        </p:txBody>
      </p:sp>
      <p:sp>
        <p:nvSpPr>
          <p:cNvPr id="129" name="Freeform 4"/>
          <p:cNvSpPr/>
          <p:nvPr/>
        </p:nvSpPr>
        <p:spPr>
          <a:xfrm>
            <a:off x="7932707" y="1089315"/>
            <a:ext cx="3682361" cy="39029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Freeform 6"/>
          <p:cNvSpPr/>
          <p:nvPr/>
        </p:nvSpPr>
        <p:spPr>
          <a:xfrm>
            <a:off x="7932707" y="5366370"/>
            <a:ext cx="3682361" cy="390299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Freeform 7"/>
          <p:cNvSpPr/>
          <p:nvPr/>
        </p:nvSpPr>
        <p:spPr>
          <a:xfrm flipH="1">
            <a:off x="4962823" y="730359"/>
            <a:ext cx="2138520" cy="185079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TextBox 8"/>
          <p:cNvSpPr txBox="1"/>
          <p:nvPr/>
        </p:nvSpPr>
        <p:spPr>
          <a:xfrm>
            <a:off x="628233" y="3425938"/>
            <a:ext cx="6473110" cy="4702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100"/>
              </a:lnSpc>
              <a:defRPr b="1" spc="41" sz="25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REAL-TIME FACT-CHECKING</a:t>
            </a:r>
          </a:p>
          <a:p>
            <a:pPr>
              <a:lnSpc>
                <a:spcPts val="3100"/>
              </a:lnSpc>
              <a:defRPr spc="41" sz="25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   Google Fact Check API integration</a:t>
            </a:r>
          </a:p>
          <a:p>
            <a:pPr>
              <a:lnSpc>
                <a:spcPts val="3100"/>
              </a:lnSpc>
            </a:pPr>
          </a:p>
          <a:p>
            <a:pPr>
              <a:lnSpc>
                <a:spcPts val="3100"/>
              </a:lnSpc>
              <a:defRPr b="1" spc="41" sz="25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INTERACTIVE VISUALIZATION  </a:t>
            </a:r>
          </a:p>
          <a:p>
            <a:pPr>
              <a:lnSpc>
                <a:spcPts val="3100"/>
              </a:lnSpc>
              <a:defRPr spc="41" sz="25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 D3.js spider web with draggable nodes</a:t>
            </a:r>
          </a:p>
          <a:p>
            <a:pPr>
              <a:lnSpc>
                <a:spcPts val="3100"/>
              </a:lnSpc>
            </a:pPr>
          </a:p>
          <a:p>
            <a:pPr>
              <a:lnSpc>
                <a:spcPts val="3100"/>
              </a:lnSpc>
              <a:defRPr b="1" spc="41" sz="25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TRUST SCORE SYSTEM  </a:t>
            </a:r>
          </a:p>
          <a:p>
            <a:pPr>
              <a:lnSpc>
                <a:spcPts val="3100"/>
              </a:lnSpc>
              <a:defRPr spc="41" sz="25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 0-100 credibility score with color coding</a:t>
            </a:r>
          </a:p>
          <a:p>
            <a:pPr>
              <a:lnSpc>
                <a:spcPts val="3100"/>
              </a:lnSpc>
            </a:pPr>
          </a:p>
          <a:p>
            <a:pPr>
              <a:lnSpc>
                <a:spcPts val="3100"/>
              </a:lnSpc>
              <a:defRPr spc="41" sz="25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 </a:t>
            </a:r>
            <a:r>
              <a:rPr b="1">
                <a:latin typeface="Open Sauce Bold"/>
                <a:ea typeface="Open Sauce Bold"/>
                <a:cs typeface="Open Sauce Bold"/>
                <a:sym typeface="Open Sauce Bold"/>
              </a:rPr>
              <a:t>VOICE INPUT &amp; TTS  </a:t>
            </a:r>
            <a:endParaRPr b="1"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>
              <a:lnSpc>
                <a:spcPts val="3100"/>
              </a:lnSpc>
              <a:defRPr spc="41" sz="25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 Web Speech API for accessibility</a:t>
            </a:r>
          </a:p>
        </p:txBody>
      </p:sp>
      <p:sp>
        <p:nvSpPr>
          <p:cNvPr id="133" name="TextBox 9"/>
          <p:cNvSpPr txBox="1"/>
          <p:nvPr/>
        </p:nvSpPr>
        <p:spPr>
          <a:xfrm>
            <a:off x="12680529" y="2172574"/>
            <a:ext cx="4178303" cy="3517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100"/>
              </a:lnSpc>
              <a:defRPr b="1" spc="41" sz="25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MULTI-LANGUAGE SUPPORT </a:t>
            </a:r>
            <a:r>
              <a:rPr b="0">
                <a:latin typeface="Open Sauce Light"/>
                <a:ea typeface="Open Sauce Light"/>
                <a:cs typeface="Open Sauce Light"/>
                <a:sym typeface="Open Sauce Light"/>
              </a:rPr>
              <a:t>  </a:t>
            </a:r>
            <a:endParaRPr b="0"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>
              <a:lnSpc>
                <a:spcPts val="3100"/>
              </a:lnSpc>
              <a:defRPr spc="41" sz="25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5 languages: EN, ES, HI, FR, AR</a:t>
            </a:r>
          </a:p>
          <a:p>
            <a:pPr>
              <a:lnSpc>
                <a:spcPts val="3100"/>
              </a:lnSpc>
            </a:pPr>
          </a:p>
          <a:p>
            <a:pPr>
              <a:lnSpc>
                <a:spcPts val="3100"/>
              </a:lnSpc>
              <a:defRPr b="1" spc="41" sz="25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 ANALYSIS HISTORY</a:t>
            </a:r>
            <a:r>
              <a:rPr b="0">
                <a:latin typeface="Open Sauce Light"/>
                <a:ea typeface="Open Sauce Light"/>
                <a:cs typeface="Open Sauce Light"/>
                <a:sym typeface="Open Sauce Light"/>
              </a:rPr>
              <a:t>   Save the last 20 analyses in the browser</a:t>
            </a:r>
            <a:endParaRPr b="0"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134" name="TextBox 10"/>
          <p:cNvSpPr txBox="1"/>
          <p:nvPr/>
        </p:nvSpPr>
        <p:spPr>
          <a:xfrm>
            <a:off x="12680529" y="6024458"/>
            <a:ext cx="4178303" cy="3123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100"/>
              </a:lnSpc>
              <a:defRPr b="1" spc="41" sz="25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EXPORT &amp; SHARE  </a:t>
            </a:r>
            <a:r>
              <a:rPr b="0">
                <a:latin typeface="Open Sauce Light"/>
                <a:ea typeface="Open Sauce Light"/>
                <a:cs typeface="Open Sauce Light"/>
                <a:sym typeface="Open Sauce Light"/>
              </a:rPr>
              <a:t> Download PNG, Export PDF, Share on Social Media</a:t>
            </a:r>
            <a:endParaRPr b="0"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>
              <a:lnSpc>
                <a:spcPts val="3100"/>
              </a:lnSpc>
            </a:pPr>
            <a:endParaRPr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>
              <a:lnSpc>
                <a:spcPts val="3100"/>
              </a:lnSpc>
              <a:defRPr b="1" spc="41" sz="25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COMPARE FEATURE </a:t>
            </a:r>
            <a:r>
              <a:rPr b="0">
                <a:latin typeface="Open Sauce Light"/>
                <a:ea typeface="Open Sauce Light"/>
                <a:cs typeface="Open Sauce Light"/>
                <a:sym typeface="Open Sauce Light"/>
              </a:rPr>
              <a:t>  Compare two articles side by side</a:t>
            </a:r>
            <a:endParaRPr b="0"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2"/>
          <p:cNvSpPr txBox="1"/>
          <p:nvPr/>
        </p:nvSpPr>
        <p:spPr>
          <a:xfrm>
            <a:off x="787050" y="5705626"/>
            <a:ext cx="6107086" cy="1948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7500"/>
              </a:lnSpc>
              <a:defRPr b="1" spc="-168" sz="80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IMPACT &amp; USE CASES</a:t>
            </a:r>
          </a:p>
        </p:txBody>
      </p:sp>
      <p:sp>
        <p:nvSpPr>
          <p:cNvPr id="137" name="TextBox 3"/>
          <p:cNvSpPr txBox="1"/>
          <p:nvPr/>
        </p:nvSpPr>
        <p:spPr>
          <a:xfrm>
            <a:off x="907875" y="7865916"/>
            <a:ext cx="5865438" cy="1585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EDUCATION</a:t>
            </a:r>
          </a:p>
          <a:p>
            <a:pPr>
              <a:lnSpc>
                <a:spcPts val="2500"/>
              </a:lnSpc>
            </a:pPr>
          </a:p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JOURNALISM</a:t>
            </a:r>
          </a:p>
          <a:p>
            <a:pPr>
              <a:lnSpc>
                <a:spcPts val="2500"/>
              </a:lnSpc>
            </a:pPr>
          </a:p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GOVERNMENT &amp; NGOS</a:t>
            </a:r>
          </a:p>
        </p:txBody>
      </p:sp>
      <p:sp>
        <p:nvSpPr>
          <p:cNvPr id="138" name="AutoShape 4"/>
          <p:cNvSpPr/>
          <p:nvPr/>
        </p:nvSpPr>
        <p:spPr>
          <a:xfrm>
            <a:off x="7590331" y="2825899"/>
            <a:ext cx="4148875" cy="1"/>
          </a:xfrm>
          <a:prstGeom prst="line">
            <a:avLst/>
          </a:prstGeom>
          <a:ln w="66675">
            <a:solidFill>
              <a:srgbClr val="8C52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Box 5"/>
          <p:cNvSpPr txBox="1"/>
          <p:nvPr/>
        </p:nvSpPr>
        <p:spPr>
          <a:xfrm>
            <a:off x="7590332" y="2120606"/>
            <a:ext cx="1866722" cy="720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2900"/>
              </a:lnSpc>
              <a:defRPr b="1" spc="108" sz="22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EDUCATION</a:t>
            </a:r>
          </a:p>
        </p:txBody>
      </p:sp>
      <p:sp>
        <p:nvSpPr>
          <p:cNvPr id="140" name="TextBox 6"/>
          <p:cNvSpPr txBox="1"/>
          <p:nvPr/>
        </p:nvSpPr>
        <p:spPr>
          <a:xfrm>
            <a:off x="12244113" y="1392450"/>
            <a:ext cx="5015187" cy="1459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10209" indent="-205104">
              <a:lnSpc>
                <a:spcPts val="2300"/>
              </a:lnSpc>
              <a:buSzPct val="100000"/>
              <a:buFont typeface="Arial"/>
              <a:buChar char="•"/>
              <a:defRPr spc="3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Teach media literacy in schools and   universities  </a:t>
            </a:r>
          </a:p>
          <a:p>
            <a:pPr lvl="1" marL="410209" indent="-205104">
              <a:lnSpc>
                <a:spcPts val="2300"/>
              </a:lnSpc>
              <a:buSzPct val="100000"/>
              <a:buFont typeface="Arial"/>
              <a:buChar char="•"/>
              <a:defRPr spc="3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 Interactive learning tool for students   </a:t>
            </a:r>
          </a:p>
          <a:p>
            <a:pPr lvl="1" marL="410209" indent="-205104">
              <a:lnSpc>
                <a:spcPts val="2300"/>
              </a:lnSpc>
              <a:buSzPct val="100000"/>
              <a:buFont typeface="Arial"/>
              <a:buChar char="•"/>
              <a:defRPr spc="3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Develop critical thinking skills early</a:t>
            </a:r>
          </a:p>
        </p:txBody>
      </p:sp>
      <p:sp>
        <p:nvSpPr>
          <p:cNvPr id="141" name="AutoShape 7"/>
          <p:cNvSpPr/>
          <p:nvPr/>
        </p:nvSpPr>
        <p:spPr>
          <a:xfrm>
            <a:off x="7590331" y="4266017"/>
            <a:ext cx="4148875" cy="1"/>
          </a:xfrm>
          <a:prstGeom prst="line">
            <a:avLst/>
          </a:prstGeom>
          <a:ln w="66675">
            <a:solidFill>
              <a:srgbClr val="8C52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Box 8"/>
          <p:cNvSpPr txBox="1"/>
          <p:nvPr/>
        </p:nvSpPr>
        <p:spPr>
          <a:xfrm>
            <a:off x="7590332" y="3597171"/>
            <a:ext cx="2152472" cy="689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2900"/>
              </a:lnSpc>
              <a:defRPr b="1" spc="108" sz="22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JOURNALISM</a:t>
            </a:r>
          </a:p>
        </p:txBody>
      </p:sp>
      <p:sp>
        <p:nvSpPr>
          <p:cNvPr id="143" name="TextBox 9"/>
          <p:cNvSpPr txBox="1"/>
          <p:nvPr/>
        </p:nvSpPr>
        <p:spPr>
          <a:xfrm>
            <a:off x="12244113" y="3047134"/>
            <a:ext cx="5015187" cy="1167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10211" indent="-205105">
              <a:lnSpc>
                <a:spcPts val="2300"/>
              </a:lnSpc>
              <a:buSzPct val="100000"/>
              <a:buFont typeface="Arial"/>
              <a:buChar char="•"/>
              <a:defRPr spc="29" sz="19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Fact-check articles before publishing   Quick verification of sources </a:t>
            </a:r>
          </a:p>
          <a:p>
            <a:pPr lvl="1" marL="410211" indent="-205105">
              <a:lnSpc>
                <a:spcPts val="2300"/>
              </a:lnSpc>
              <a:buSzPct val="100000"/>
              <a:buFont typeface="Arial"/>
              <a:buChar char="•"/>
              <a:defRPr spc="29" sz="19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  Build credibility with readers</a:t>
            </a:r>
          </a:p>
        </p:txBody>
      </p:sp>
      <p:sp>
        <p:nvSpPr>
          <p:cNvPr id="144" name="AutoShape 10"/>
          <p:cNvSpPr/>
          <p:nvPr/>
        </p:nvSpPr>
        <p:spPr>
          <a:xfrm>
            <a:off x="7590331" y="6027316"/>
            <a:ext cx="4148875" cy="1"/>
          </a:xfrm>
          <a:prstGeom prst="line">
            <a:avLst/>
          </a:prstGeom>
          <a:ln w="66675">
            <a:solidFill>
              <a:srgbClr val="8C52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Box 11"/>
          <p:cNvSpPr txBox="1"/>
          <p:nvPr/>
        </p:nvSpPr>
        <p:spPr>
          <a:xfrm>
            <a:off x="7590331" y="4950547"/>
            <a:ext cx="2595496" cy="1088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2900"/>
              </a:lnSpc>
              <a:defRPr b="1" spc="108" sz="22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GOVERNMENT &amp; NGOS</a:t>
            </a:r>
          </a:p>
        </p:txBody>
      </p:sp>
      <p:sp>
        <p:nvSpPr>
          <p:cNvPr id="146" name="TextBox 12"/>
          <p:cNvSpPr txBox="1"/>
          <p:nvPr/>
        </p:nvSpPr>
        <p:spPr>
          <a:xfrm>
            <a:off x="12244113" y="4603393"/>
            <a:ext cx="5015187" cy="1167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10211" indent="-205105">
              <a:lnSpc>
                <a:spcPts val="2300"/>
              </a:lnSpc>
              <a:buSzPct val="100000"/>
              <a:buFont typeface="Arial"/>
              <a:buChar char="•"/>
              <a:defRPr spc="29" sz="19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 Counter misinformation campaigns  </a:t>
            </a:r>
          </a:p>
          <a:p>
            <a:pPr lvl="1" marL="410211" indent="-205105">
              <a:lnSpc>
                <a:spcPts val="2300"/>
              </a:lnSpc>
              <a:buSzPct val="100000"/>
              <a:buFont typeface="Arial"/>
              <a:buChar char="•"/>
              <a:defRPr spc="29" sz="19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 Build public trust through transperancy</a:t>
            </a:r>
          </a:p>
          <a:p>
            <a:pPr lvl="1" marL="410211" indent="-205105">
              <a:lnSpc>
                <a:spcPts val="2300"/>
              </a:lnSpc>
              <a:buSzPct val="100000"/>
              <a:buFont typeface="Arial"/>
              <a:buChar char="•"/>
              <a:defRPr spc="29" sz="19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 Promote media literacy at scale</a:t>
            </a:r>
          </a:p>
        </p:txBody>
      </p:sp>
      <p:sp>
        <p:nvSpPr>
          <p:cNvPr id="147" name="TextBox 13"/>
          <p:cNvSpPr txBox="1"/>
          <p:nvPr/>
        </p:nvSpPr>
        <p:spPr>
          <a:xfrm>
            <a:off x="7590331" y="6344392"/>
            <a:ext cx="2595496" cy="1088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2900"/>
              </a:lnSpc>
              <a:defRPr b="1" spc="108" sz="22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GENERAL PUBLIC</a:t>
            </a:r>
          </a:p>
        </p:txBody>
      </p:sp>
      <p:sp>
        <p:nvSpPr>
          <p:cNvPr id="148" name="AutoShape 14"/>
          <p:cNvSpPr/>
          <p:nvPr/>
        </p:nvSpPr>
        <p:spPr>
          <a:xfrm>
            <a:off x="7590331" y="7421163"/>
            <a:ext cx="4148875" cy="1"/>
          </a:xfrm>
          <a:prstGeom prst="line">
            <a:avLst/>
          </a:prstGeom>
          <a:ln w="66675">
            <a:solidFill>
              <a:srgbClr val="8C52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Box 15"/>
          <p:cNvSpPr txBox="1"/>
          <p:nvPr/>
        </p:nvSpPr>
        <p:spPr>
          <a:xfrm>
            <a:off x="12358637" y="6246391"/>
            <a:ext cx="5015187" cy="1167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10211" indent="-205105">
              <a:lnSpc>
                <a:spcPts val="2300"/>
              </a:lnSpc>
              <a:buSzPct val="100000"/>
              <a:buFont typeface="Arial"/>
              <a:buChar char="•"/>
              <a:defRPr spc="29" sz="19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Make informed decisions </a:t>
            </a:r>
          </a:p>
          <a:p>
            <a:pPr lvl="1" marL="410211" indent="-205105">
              <a:lnSpc>
                <a:spcPts val="2300"/>
              </a:lnSpc>
              <a:buSzPct val="100000"/>
              <a:buFont typeface="Arial"/>
              <a:buChar char="•"/>
              <a:defRPr spc="29" sz="19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 Become critical thinkers   </a:t>
            </a:r>
          </a:p>
          <a:p>
            <a:pPr lvl="1" marL="410211" indent="-205105">
              <a:lnSpc>
                <a:spcPts val="2300"/>
              </a:lnSpc>
              <a:buSzPct val="100000"/>
              <a:buFont typeface="Arial"/>
              <a:buChar char="•"/>
              <a:defRPr spc="29" sz="19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Navigate the digital world confidently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2"/>
          <p:cNvSpPr txBox="1"/>
          <p:nvPr/>
        </p:nvSpPr>
        <p:spPr>
          <a:xfrm>
            <a:off x="3076407" y="1219199"/>
            <a:ext cx="12465960" cy="995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7500"/>
              </a:lnSpc>
              <a:defRPr b="1" spc="-168" sz="80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TECHNOLOGY STACK</a:t>
            </a:r>
          </a:p>
        </p:txBody>
      </p:sp>
      <p:sp>
        <p:nvSpPr>
          <p:cNvPr id="152" name="TextBox 3"/>
          <p:cNvSpPr txBox="1"/>
          <p:nvPr/>
        </p:nvSpPr>
        <p:spPr>
          <a:xfrm>
            <a:off x="8608670" y="3257741"/>
            <a:ext cx="7561162" cy="189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└── HTML5 + CSS3 + JavaScript</a:t>
            </a:r>
          </a:p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└── D3.js (Data-Driven Documents) for visualization</a:t>
            </a:r>
          </a:p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└── Web Speech API (Voice Input &amp; Text-to-Speech)</a:t>
            </a:r>
          </a:p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└── i18n (Multi-Language Support - 5 languages)</a:t>
            </a:r>
          </a:p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└── Local Storage (History &amp; Preferences)</a:t>
            </a:r>
          </a:p>
        </p:txBody>
      </p:sp>
      <p:sp>
        <p:nvSpPr>
          <p:cNvPr id="153" name="TextBox 4"/>
          <p:cNvSpPr txBox="1"/>
          <p:nvPr/>
        </p:nvSpPr>
        <p:spPr>
          <a:xfrm>
            <a:off x="4566082" y="3248216"/>
            <a:ext cx="2778234" cy="651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b="1" spc="98" sz="21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154" name="AutoShape 5"/>
          <p:cNvSpPr/>
          <p:nvPr/>
        </p:nvSpPr>
        <p:spPr>
          <a:xfrm flipH="1">
            <a:off x="8126359" y="3020609"/>
            <a:ext cx="1" cy="6237692"/>
          </a:xfrm>
          <a:prstGeom prst="line">
            <a:avLst/>
          </a:prstGeom>
          <a:ln w="19050">
            <a:solidFill>
              <a:srgbClr val="8C52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Box 6"/>
          <p:cNvSpPr txBox="1"/>
          <p:nvPr/>
        </p:nvSpPr>
        <p:spPr>
          <a:xfrm>
            <a:off x="8608670" y="5521592"/>
            <a:ext cx="7561162" cy="189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└── Python 3.13</a:t>
            </a:r>
          </a:p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└── Flask 3.1.0 (Web Framework)</a:t>
            </a:r>
          </a:p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└── RESTful API Design</a:t>
            </a:r>
          </a:p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└── Google Fact Check API Integration</a:t>
            </a:r>
          </a:p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└── JSON Data Storage (8 articles, 40+ claims)</a:t>
            </a:r>
          </a:p>
        </p:txBody>
      </p:sp>
      <p:sp>
        <p:nvSpPr>
          <p:cNvPr id="156" name="TextBox 7"/>
          <p:cNvSpPr txBox="1"/>
          <p:nvPr/>
        </p:nvSpPr>
        <p:spPr>
          <a:xfrm>
            <a:off x="4566082" y="5512067"/>
            <a:ext cx="2778234" cy="651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b="1" spc="98" sz="21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BACKEND</a:t>
            </a:r>
          </a:p>
        </p:txBody>
      </p:sp>
      <p:sp>
        <p:nvSpPr>
          <p:cNvPr id="157" name="TextBox 8"/>
          <p:cNvSpPr txBox="1"/>
          <p:nvPr/>
        </p:nvSpPr>
        <p:spPr>
          <a:xfrm>
            <a:off x="8779116" y="7985559"/>
            <a:ext cx="7561162" cy="189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We chose these technologies because they are:</a:t>
            </a:r>
          </a:p>
          <a:p>
            <a:pPr lvl="1" marL="453390" indent="-226695">
              <a:lnSpc>
                <a:spcPts val="2500"/>
              </a:lnSpc>
              <a:buSzPct val="100000"/>
              <a:buFont typeface="Arial"/>
              <a:buChar char="•"/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Free &amp; Open Source - No licensing costs</a:t>
            </a:r>
          </a:p>
          <a:p>
            <a:pPr lvl="1" marL="453390" indent="-226695">
              <a:lnSpc>
                <a:spcPts val="2500"/>
              </a:lnSpc>
              <a:buSzPct val="100000"/>
              <a:buFont typeface="Arial"/>
              <a:buChar char="•"/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Lightweight - Runs on any laptop</a:t>
            </a:r>
          </a:p>
          <a:p>
            <a:pPr lvl="1" marL="453390" indent="-226695">
              <a:lnSpc>
                <a:spcPts val="2500"/>
              </a:lnSpc>
              <a:buSzPct val="100000"/>
              <a:buFont typeface="Arial"/>
              <a:buChar char="•"/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Scalable - Can handle thousands of users</a:t>
            </a:r>
          </a:p>
          <a:p>
            <a:pPr lvl="1" marL="453390" indent="-226695">
              <a:lnSpc>
                <a:spcPts val="2500"/>
              </a:lnSpc>
              <a:buSzPct val="100000"/>
              <a:buFont typeface="Arial"/>
              <a:buChar char="•"/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Accessible - Easy for anyone to contribute</a:t>
            </a:r>
          </a:p>
        </p:txBody>
      </p:sp>
      <p:sp>
        <p:nvSpPr>
          <p:cNvPr id="158" name="TextBox 9"/>
          <p:cNvSpPr txBox="1"/>
          <p:nvPr/>
        </p:nvSpPr>
        <p:spPr>
          <a:xfrm>
            <a:off x="4556281" y="8151610"/>
            <a:ext cx="2778234" cy="651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b="1" spc="98" sz="21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WHY THIS STACK?</a:t>
            </a:r>
          </a:p>
        </p:txBody>
      </p:sp>
      <p:sp>
        <p:nvSpPr>
          <p:cNvPr id="159" name="Freeform 10"/>
          <p:cNvSpPr/>
          <p:nvPr/>
        </p:nvSpPr>
        <p:spPr>
          <a:xfrm>
            <a:off x="1105505" y="8373850"/>
            <a:ext cx="765452" cy="88445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Box 11"/>
          <p:cNvSpPr txBox="1"/>
          <p:nvPr/>
        </p:nvSpPr>
        <p:spPr>
          <a:xfrm>
            <a:off x="2232998" y="2371602"/>
            <a:ext cx="12465960" cy="183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b="1" spc="-31" sz="14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MODERN TECH.  OPEN SOURCE.   FREE TO USE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Freeform 2"/>
          <p:cNvSpPr/>
          <p:nvPr/>
        </p:nvSpPr>
        <p:spPr>
          <a:xfrm>
            <a:off x="624107" y="8448626"/>
            <a:ext cx="1191695" cy="119169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Freeform 3"/>
          <p:cNvSpPr/>
          <p:nvPr/>
        </p:nvSpPr>
        <p:spPr>
          <a:xfrm>
            <a:off x="16262708" y="1028700"/>
            <a:ext cx="996593" cy="99659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Freeform 4"/>
          <p:cNvSpPr/>
          <p:nvPr/>
        </p:nvSpPr>
        <p:spPr>
          <a:xfrm>
            <a:off x="7193042" y="3162972"/>
            <a:ext cx="8901619" cy="659947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TextBox 5"/>
          <p:cNvSpPr txBox="1"/>
          <p:nvPr/>
        </p:nvSpPr>
        <p:spPr>
          <a:xfrm>
            <a:off x="377910" y="802557"/>
            <a:ext cx="9206609" cy="2724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7500"/>
              </a:lnSpc>
              <a:defRPr b="1" spc="-168" sz="80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SYSTEM </a:t>
            </a:r>
          </a:p>
          <a:p>
            <a:pPr>
              <a:lnSpc>
                <a:spcPts val="7500"/>
              </a:lnSpc>
              <a:defRPr b="1" spc="-168" sz="80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ARCHITECTURE</a:t>
            </a:r>
          </a:p>
        </p:txBody>
      </p:sp>
      <p:sp>
        <p:nvSpPr>
          <p:cNvPr id="166" name="TextBox 6"/>
          <p:cNvSpPr txBox="1"/>
          <p:nvPr/>
        </p:nvSpPr>
        <p:spPr>
          <a:xfrm>
            <a:off x="510478" y="2832263"/>
            <a:ext cx="7167597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pc="33" sz="21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lvl1pPr>
          </a:lstStyle>
          <a:p>
            <a:pPr/>
            <a:r>
              <a:t>FRONTEND  BACKEND  EXTERNAL SERVICES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Freeform 2"/>
          <p:cNvSpPr/>
          <p:nvPr/>
        </p:nvSpPr>
        <p:spPr>
          <a:xfrm>
            <a:off x="1424978" y="1028699"/>
            <a:ext cx="2832735" cy="219923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Box 3"/>
          <p:cNvSpPr txBox="1"/>
          <p:nvPr/>
        </p:nvSpPr>
        <p:spPr>
          <a:xfrm>
            <a:off x="1377790" y="3773170"/>
            <a:ext cx="6915079" cy="1948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7500"/>
              </a:lnSpc>
              <a:defRPr b="1" spc="-168" sz="80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LIVE DEMO HIGHLIGHTS</a:t>
            </a:r>
          </a:p>
        </p:txBody>
      </p:sp>
      <p:sp>
        <p:nvSpPr>
          <p:cNvPr id="170" name="TextBox 4"/>
          <p:cNvSpPr txBox="1"/>
          <p:nvPr/>
        </p:nvSpPr>
        <p:spPr>
          <a:xfrm>
            <a:off x="9143999" y="1439898"/>
            <a:ext cx="6541708" cy="3186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96569" indent="-248283">
              <a:lnSpc>
                <a:spcPts val="2800"/>
              </a:lnSpc>
              <a:buSzPct val="100000"/>
              <a:buAutoNum type="arabicPeriod" startAt="1"/>
              <a:defRPr b="1" spc="36" sz="22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CLEAN INTERFACE</a:t>
            </a:r>
            <a:r>
              <a:rPr b="0">
                <a:latin typeface="Open Sauce"/>
                <a:ea typeface="Open Sauce"/>
                <a:cs typeface="Open Sauce"/>
                <a:sym typeface="Open Sauce"/>
              </a:rPr>
              <a:t>  </a:t>
            </a:r>
            <a:endParaRPr b="0">
              <a:latin typeface="Open Sauce"/>
              <a:ea typeface="Open Sauce"/>
              <a:cs typeface="Open Sauce"/>
              <a:sym typeface="Open Sauce"/>
            </a:endParaRPr>
          </a:p>
          <a:p>
            <a:pPr>
              <a:lnSpc>
                <a:spcPts val="2800"/>
              </a:lnSpc>
              <a:defRPr spc="36" sz="2200">
                <a:solidFill>
                  <a:srgbClr val="8C52FF"/>
                </a:solidFill>
                <a:latin typeface="Open Sauce"/>
                <a:ea typeface="Open Sauce"/>
                <a:cs typeface="Open Sauce"/>
                <a:sym typeface="Open Sauce"/>
              </a:defRPr>
            </a:pPr>
            <a:r>
              <a:t>   Empty input ready for URL or text</a:t>
            </a:r>
          </a:p>
          <a:p>
            <a:pPr>
              <a:lnSpc>
                <a:spcPts val="2800"/>
              </a:lnSpc>
            </a:pPr>
          </a:p>
          <a:p>
            <a:pPr lvl="1" marL="496569" indent="-248283">
              <a:lnSpc>
                <a:spcPts val="2800"/>
              </a:lnSpc>
              <a:buSzPct val="100000"/>
              <a:buAutoNum type="arabicPeriod" startAt="1"/>
              <a:defRPr spc="36" sz="2200">
                <a:solidFill>
                  <a:srgbClr val="8C52FF"/>
                </a:solidFill>
                <a:latin typeface="Open Sauce"/>
                <a:ea typeface="Open Sauce"/>
                <a:cs typeface="Open Sauce"/>
                <a:sym typeface="Open Sauce"/>
              </a:defRPr>
            </a:pPr>
            <a:r>
              <a:t>S</a:t>
            </a:r>
            <a:r>
              <a:rPr b="1">
                <a:latin typeface="Open Sauce Bold"/>
                <a:ea typeface="Open Sauce Bold"/>
                <a:cs typeface="Open Sauce Bold"/>
                <a:sym typeface="Open Sauce Bold"/>
              </a:rPr>
              <a:t>MART ANALYSIS  </a:t>
            </a:r>
            <a:endParaRPr b="1"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>
              <a:lnSpc>
                <a:spcPts val="2800"/>
              </a:lnSpc>
              <a:defRPr spc="36" sz="2200">
                <a:solidFill>
                  <a:srgbClr val="8C52FF"/>
                </a:solidFill>
                <a:latin typeface="Open Sauce"/>
                <a:ea typeface="Open Sauce"/>
                <a:cs typeface="Open Sauce"/>
                <a:sym typeface="Open Sauce"/>
              </a:defRPr>
            </a:pPr>
            <a:r>
              <a:t>   Auto-detects article topic with loading   animation</a:t>
            </a:r>
          </a:p>
          <a:p>
            <a:pPr>
              <a:lnSpc>
                <a:spcPts val="2800"/>
              </a:lnSpc>
            </a:pPr>
          </a:p>
          <a:p>
            <a:pPr lvl="1" marL="496569" indent="-248283">
              <a:lnSpc>
                <a:spcPts val="2800"/>
              </a:lnSpc>
              <a:buSzPct val="100000"/>
              <a:buAutoNum type="arabicPeriod" startAt="1"/>
              <a:defRPr spc="36" sz="2200">
                <a:solidFill>
                  <a:srgbClr val="8C52FF"/>
                </a:solidFill>
                <a:latin typeface="Open Sauce"/>
                <a:ea typeface="Open Sauce"/>
                <a:cs typeface="Open Sauce"/>
                <a:sym typeface="Open Sauce"/>
              </a:defRPr>
            </a:pPr>
            <a:r>
              <a:t>V</a:t>
            </a:r>
            <a:r>
              <a:rPr b="1">
                <a:latin typeface="Open Sauce Bold"/>
                <a:ea typeface="Open Sauce Bold"/>
                <a:cs typeface="Open Sauce Bold"/>
                <a:sym typeface="Open Sauce Bold"/>
              </a:rPr>
              <a:t>ISUALIZATION  </a:t>
            </a:r>
            <a:endParaRPr b="1"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>
              <a:lnSpc>
                <a:spcPts val="2800"/>
              </a:lnSpc>
              <a:defRPr spc="36" sz="2200">
                <a:solidFill>
                  <a:srgbClr val="8C52FF"/>
                </a:solidFill>
                <a:latin typeface="Open Sauce"/>
                <a:ea typeface="Open Sauce"/>
                <a:cs typeface="Open Sauce"/>
                <a:sym typeface="Open Sauce"/>
              </a:defRPr>
            </a:pPr>
            <a:r>
              <a:t> Spider web with draggable, color-coded nodes</a:t>
            </a:r>
          </a:p>
        </p:txBody>
      </p:sp>
      <p:sp>
        <p:nvSpPr>
          <p:cNvPr id="171" name="TextBox 5"/>
          <p:cNvSpPr txBox="1"/>
          <p:nvPr/>
        </p:nvSpPr>
        <p:spPr>
          <a:xfrm>
            <a:off x="9143999" y="5310731"/>
            <a:ext cx="6731091" cy="3186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96569" indent="-248283">
              <a:lnSpc>
                <a:spcPts val="2800"/>
              </a:lnSpc>
              <a:buSzPct val="100000"/>
              <a:buAutoNum type="arabicPeriod" startAt="1"/>
              <a:defRPr spc="36" sz="22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 </a:t>
            </a:r>
            <a:r>
              <a:rPr b="1">
                <a:latin typeface="Open Sauce Bold"/>
                <a:ea typeface="Open Sauce Bold"/>
                <a:cs typeface="Open Sauce Bold"/>
                <a:sym typeface="Open Sauce Bold"/>
              </a:rPr>
              <a:t>TRUST SCORE  </a:t>
            </a:r>
            <a:endParaRPr b="1"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>
              <a:lnSpc>
                <a:spcPts val="2800"/>
              </a:lnSpc>
              <a:defRPr spc="36" sz="22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  Animated 0-100 score with color coding</a:t>
            </a:r>
          </a:p>
          <a:p>
            <a:pPr>
              <a:lnSpc>
                <a:spcPts val="2800"/>
              </a:lnSpc>
            </a:pPr>
          </a:p>
          <a:p>
            <a:pPr lvl="1" marL="496569" indent="-248283">
              <a:lnSpc>
                <a:spcPts val="2800"/>
              </a:lnSpc>
              <a:buSzPct val="100000"/>
              <a:buAutoNum type="arabicPeriod" startAt="1"/>
              <a:defRPr spc="36" sz="22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C</a:t>
            </a:r>
            <a:r>
              <a:rPr b="1">
                <a:latin typeface="Open Sauce Bold"/>
                <a:ea typeface="Open Sauce Bold"/>
                <a:cs typeface="Open Sauce Bold"/>
                <a:sym typeface="Open Sauce Bold"/>
              </a:rPr>
              <a:t>LAIMS BREAKDOWN  </a:t>
            </a:r>
            <a:endParaRPr b="1"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>
              <a:lnSpc>
                <a:spcPts val="2800"/>
              </a:lnSpc>
              <a:defRPr spc="36" sz="22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  Each claim with explanation and sources</a:t>
            </a:r>
          </a:p>
          <a:p>
            <a:pPr>
              <a:lnSpc>
                <a:spcPts val="2800"/>
              </a:lnSpc>
            </a:pPr>
          </a:p>
          <a:p>
            <a:pPr lvl="1" marL="496569" indent="-248283">
              <a:lnSpc>
                <a:spcPts val="2800"/>
              </a:lnSpc>
              <a:buSzPct val="100000"/>
              <a:buAutoNum type="arabicPeriod" startAt="1"/>
              <a:defRPr spc="36" sz="22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C</a:t>
            </a:r>
            <a:r>
              <a:rPr b="1">
                <a:latin typeface="Open Sauce Bold"/>
                <a:ea typeface="Open Sauce Bold"/>
                <a:cs typeface="Open Sauce Bold"/>
                <a:sym typeface="Open Sauce Bold"/>
              </a:rPr>
              <a:t>OMPARE FEATURE   </a:t>
            </a:r>
            <a:endParaRPr b="1"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>
              <a:lnSpc>
                <a:spcPts val="2800"/>
              </a:lnSpc>
              <a:defRPr spc="36" sz="22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 Side-by-side article comparison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Freeform 2"/>
          <p:cNvSpPr/>
          <p:nvPr/>
        </p:nvSpPr>
        <p:spPr>
          <a:xfrm>
            <a:off x="1424978" y="1028699"/>
            <a:ext cx="2832735" cy="219923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Box 3"/>
          <p:cNvSpPr txBox="1"/>
          <p:nvPr/>
        </p:nvSpPr>
        <p:spPr>
          <a:xfrm>
            <a:off x="1377790" y="3773170"/>
            <a:ext cx="6915079" cy="290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7500"/>
              </a:lnSpc>
              <a:defRPr b="1" spc="-168" sz="80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CONCLUSION &amp; FUTURE VISION</a:t>
            </a:r>
          </a:p>
        </p:txBody>
      </p:sp>
      <p:sp>
        <p:nvSpPr>
          <p:cNvPr id="175" name="TextBox 4"/>
          <p:cNvSpPr txBox="1"/>
          <p:nvPr/>
        </p:nvSpPr>
        <p:spPr>
          <a:xfrm>
            <a:off x="8758629" y="1110526"/>
            <a:ext cx="5790782" cy="5314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000"/>
              </a:lnSpc>
              <a:defRPr b="1" spc="39" sz="24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FUTURE PLANS</a:t>
            </a:r>
          </a:p>
          <a:p>
            <a:pPr>
              <a:lnSpc>
                <a:spcPts val="3000"/>
              </a:lnSpc>
            </a:pPr>
          </a:p>
          <a:p>
            <a:pPr>
              <a:lnSpc>
                <a:spcPts val="3000"/>
              </a:lnSpc>
              <a:defRPr b="1" spc="39" sz="24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Browser Extension </a:t>
            </a:r>
            <a:r>
              <a:rPr b="0">
                <a:latin typeface="Open Sauce"/>
                <a:ea typeface="Open Sauce"/>
                <a:cs typeface="Open Sauce"/>
                <a:sym typeface="Open Sauce"/>
              </a:rPr>
              <a:t>  </a:t>
            </a:r>
            <a:endParaRPr b="0">
              <a:latin typeface="Open Sauce"/>
              <a:ea typeface="Open Sauce"/>
              <a:cs typeface="Open Sauce"/>
              <a:sym typeface="Open Sauce"/>
            </a:endParaRPr>
          </a:p>
          <a:p>
            <a:pPr>
              <a:lnSpc>
                <a:spcPts val="3000"/>
              </a:lnSpc>
              <a:defRPr spc="39" sz="2400">
                <a:solidFill>
                  <a:srgbClr val="8C52FF"/>
                </a:solidFill>
                <a:latin typeface="Open Sauce"/>
                <a:ea typeface="Open Sauce"/>
                <a:cs typeface="Open Sauce"/>
                <a:sym typeface="Open Sauce"/>
              </a:defRPr>
            </a:pPr>
            <a:r>
              <a:t>└── Fact-check any article with one click</a:t>
            </a:r>
          </a:p>
          <a:p>
            <a:pPr>
              <a:lnSpc>
                <a:spcPts val="3000"/>
              </a:lnSpc>
            </a:pPr>
          </a:p>
          <a:p>
            <a:pPr>
              <a:lnSpc>
                <a:spcPts val="3000"/>
              </a:lnSpc>
              <a:defRPr b="1" spc="39" sz="24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Mobile App  </a:t>
            </a:r>
          </a:p>
          <a:p>
            <a:pPr>
              <a:lnSpc>
                <a:spcPts val="3000"/>
              </a:lnSpc>
              <a:defRPr spc="39" sz="2400">
                <a:solidFill>
                  <a:srgbClr val="8C52FF"/>
                </a:solidFill>
                <a:latin typeface="Open Sauce"/>
                <a:ea typeface="Open Sauce"/>
                <a:cs typeface="Open Sauce"/>
                <a:sym typeface="Open Sauce"/>
              </a:defRPr>
            </a:pPr>
            <a:r>
              <a:t> └── iOS &amp; Android for on-the-go fact-checking</a:t>
            </a:r>
          </a:p>
          <a:p>
            <a:pPr>
              <a:lnSpc>
                <a:spcPts val="3000"/>
              </a:lnSpc>
            </a:pPr>
          </a:p>
          <a:p>
            <a:pPr>
              <a:lnSpc>
                <a:spcPts val="3000"/>
              </a:lnSpc>
              <a:defRPr b="1" spc="39" sz="24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AI &amp; ML Integration </a:t>
            </a:r>
            <a:r>
              <a:rPr b="0">
                <a:latin typeface="Open Sauce"/>
                <a:ea typeface="Open Sauce"/>
                <a:cs typeface="Open Sauce"/>
                <a:sym typeface="Open Sauce"/>
              </a:rPr>
              <a:t>  </a:t>
            </a:r>
            <a:endParaRPr b="0">
              <a:latin typeface="Open Sauce"/>
              <a:ea typeface="Open Sauce"/>
              <a:cs typeface="Open Sauce"/>
              <a:sym typeface="Open Sauce"/>
            </a:endParaRPr>
          </a:p>
          <a:p>
            <a:pPr>
              <a:lnSpc>
                <a:spcPts val="3000"/>
              </a:lnSpc>
              <a:defRPr spc="39" sz="2400">
                <a:solidFill>
                  <a:srgbClr val="8C52FF"/>
                </a:solidFill>
                <a:latin typeface="Open Sauce"/>
                <a:ea typeface="Open Sauce"/>
                <a:cs typeface="Open Sauce"/>
                <a:sym typeface="Open Sauce"/>
              </a:defRPr>
            </a:pPr>
            <a:r>
              <a:t>└── Auto-extract claims from any article</a:t>
            </a:r>
          </a:p>
        </p:txBody>
      </p:sp>
      <p:sp>
        <p:nvSpPr>
          <p:cNvPr id="176" name="TextBox 5"/>
          <p:cNvSpPr txBox="1"/>
          <p:nvPr/>
        </p:nvSpPr>
        <p:spPr>
          <a:xfrm>
            <a:off x="8758629" y="6196856"/>
            <a:ext cx="5790782" cy="3790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000"/>
              </a:lnSpc>
              <a:defRPr b="1" spc="39" sz="24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Community Feature  </a:t>
            </a:r>
            <a:r>
              <a:rPr b="0">
                <a:latin typeface="Open Sauce Light"/>
                <a:ea typeface="Open Sauce Light"/>
                <a:cs typeface="Open Sauce Light"/>
                <a:sym typeface="Open Sauce Light"/>
              </a:rPr>
              <a:t> </a:t>
            </a:r>
            <a:endParaRPr b="0"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>
              <a:lnSpc>
                <a:spcPts val="3000"/>
              </a:lnSpc>
              <a:defRPr spc="39" sz="24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└── Crowdsourced fact-checking</a:t>
            </a:r>
          </a:p>
          <a:p>
            <a:pPr>
              <a:lnSpc>
                <a:spcPts val="3000"/>
              </a:lnSpc>
            </a:pPr>
          </a:p>
          <a:p>
            <a:pPr>
              <a:lnSpc>
                <a:spcPts val="3000"/>
              </a:lnSpc>
              <a:defRPr spc="39" sz="24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 </a:t>
            </a:r>
            <a:r>
              <a:rPr b="1">
                <a:latin typeface="Open Sauce Bold"/>
                <a:ea typeface="Open Sauce Bold"/>
                <a:cs typeface="Open Sauce Bold"/>
                <a:sym typeface="Open Sauce Bold"/>
              </a:rPr>
              <a:t>Educational Module  </a:t>
            </a:r>
            <a:endParaRPr b="1"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>
              <a:lnSpc>
                <a:spcPts val="3000"/>
              </a:lnSpc>
              <a:defRPr spc="39" sz="24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 └── Interactive MIL lessons and quizzes</a:t>
            </a:r>
          </a:p>
          <a:p>
            <a:pPr>
              <a:lnSpc>
                <a:spcPts val="3000"/>
              </a:lnSpc>
            </a:pPr>
          </a:p>
          <a:p>
            <a:pPr>
              <a:lnSpc>
                <a:spcPts val="3000"/>
              </a:lnSpc>
              <a:defRPr b="1" spc="39" sz="24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pPr>
            <a:r>
              <a:t>Blockchain Verification </a:t>
            </a:r>
          </a:p>
          <a:p>
            <a:pPr>
              <a:lnSpc>
                <a:spcPts val="3000"/>
              </a:lnSpc>
              <a:defRPr spc="39" sz="2400">
                <a:solidFill>
                  <a:srgbClr val="8C52FF"/>
                </a:solidFill>
                <a:latin typeface="Open Sauce Light"/>
                <a:ea typeface="Open Sauce Light"/>
                <a:cs typeface="Open Sauce Light"/>
                <a:sym typeface="Open Sauce Light"/>
              </a:defRPr>
            </a:pPr>
            <a:r>
              <a:t>  └── Immutable record of truth</a:t>
            </a:r>
          </a:p>
        </p:txBody>
      </p:sp>
      <p:sp>
        <p:nvSpPr>
          <p:cNvPr id="177" name="TextBox 6"/>
          <p:cNvSpPr txBox="1"/>
          <p:nvPr/>
        </p:nvSpPr>
        <p:spPr>
          <a:xfrm>
            <a:off x="1424977" y="6585557"/>
            <a:ext cx="6915079" cy="215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pc="-37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OPEN SOURCE.   SCALABLE FUTURE.   GLOBAL IMPACT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Freeform 2"/>
          <p:cNvSpPr/>
          <p:nvPr/>
        </p:nvSpPr>
        <p:spPr>
          <a:xfrm>
            <a:off x="16245563" y="1720999"/>
            <a:ext cx="4084875" cy="41148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Freeform 4"/>
          <p:cNvSpPr/>
          <p:nvPr/>
        </p:nvSpPr>
        <p:spPr>
          <a:xfrm>
            <a:off x="4327501" y="2016709"/>
            <a:ext cx="7364945" cy="235721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TextBox 5"/>
          <p:cNvSpPr txBox="1"/>
          <p:nvPr/>
        </p:nvSpPr>
        <p:spPr>
          <a:xfrm>
            <a:off x="4327500" y="5108283"/>
            <a:ext cx="8027036" cy="433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700"/>
              </a:lnSpc>
              <a:defRPr b="1" spc="-372" sz="17700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defRPr>
            </a:lvl1pPr>
          </a:lstStyle>
          <a:p>
            <a:pPr/>
            <a:r>
              <a:t>THANK YOU.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